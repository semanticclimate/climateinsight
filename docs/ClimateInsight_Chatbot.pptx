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 SemiBold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Didact Gothic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SemiBold-italic.fntdata"/><Relationship Id="rId12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font" Target="fonts/MontserratSemiBold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idactGothic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7dcb1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7dcb1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7dcb12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7dcb12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7dcb121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57dcb121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7dcb121f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7dcb121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semanticClimate/" TargetMode="External"/><Relationship Id="rId4" Type="http://schemas.openxmlformats.org/officeDocument/2006/relationships/hyperlink" Target="https://semanticclimate.github.io/p/en/" TargetMode="External"/><Relationship Id="rId11" Type="http://schemas.openxmlformats.org/officeDocument/2006/relationships/hyperlink" Target="https://www.ipcc.ch/report/ar6/syr/downloads/report/IPCC_AR6_SYR_LongerReport.pdf" TargetMode="External"/><Relationship Id="rId10" Type="http://schemas.openxmlformats.org/officeDocument/2006/relationships/hyperlink" Target="https://lives-mechanics-edinburgh-geometry.trycloudflare.com/" TargetMode="External"/><Relationship Id="rId12" Type="http://schemas.openxmlformats.org/officeDocument/2006/relationships/hyperlink" Target="https://europepmc.org/" TargetMode="External"/><Relationship Id="rId9" Type="http://schemas.openxmlformats.org/officeDocument/2006/relationships/hyperlink" Target="https://github.com/semanticClimate/chatbot/blob/main/input/2025_10/climate_academy_book.pdf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hyperlink" Target="https://cabot-semanticclimate.or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43613" y="2149450"/>
            <a:ext cx="7456800" cy="2398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Didact Gothic"/>
                <a:ea typeface="Didact Gothic"/>
                <a:cs typeface="Didact Gothic"/>
                <a:sym typeface="Didact Gothic"/>
              </a:rPr>
              <a:t>An AI chatbot based on UN IPCC reports and Europe PMC research papers.</a:t>
            </a:r>
            <a:endParaRPr b="1" sz="1800">
              <a:solidFill>
                <a:srgbClr val="1C4587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787" y="2052725"/>
            <a:ext cx="5470425" cy="655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432763" y="250059"/>
            <a:ext cx="8278475" cy="529378"/>
            <a:chOff x="248550" y="231909"/>
            <a:chExt cx="8278475" cy="529378"/>
          </a:xfrm>
        </p:grpSpPr>
        <p:pic>
          <p:nvPicPr>
            <p:cNvPr id="57" name="Google Shape;57;p13" title="semanticClimateLog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8550" y="283800"/>
              <a:ext cx="1830625" cy="42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33051" y="283797"/>
              <a:ext cx="968263" cy="42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984388" y="231909"/>
              <a:ext cx="729875" cy="52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211925" y="283810"/>
              <a:ext cx="951797" cy="4256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1" name="Google Shape;6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61375" y="231912"/>
              <a:ext cx="1865650" cy="529375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4466400" y="914400"/>
            <a:ext cx="46776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 A T A   S O U R C E S</a:t>
            </a:r>
            <a:endParaRPr sz="2100">
              <a:solidFill>
                <a:srgbClr val="4343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Didact Gothic"/>
              <a:buAutoNum type="arabicPeriod"/>
            </a:pPr>
            <a:r>
              <a:rPr b="1" lang="en" sz="16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IPCC AR6 SYR Longer Report</a:t>
            </a:r>
            <a:endParaRPr b="1" sz="16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Grounded in IPCC AR6 report.</a:t>
            </a:r>
            <a:br>
              <a:rPr lang="en" sz="15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</a:br>
            <a:r>
              <a:rPr lang="en" sz="15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Authoritative facts on global climate trends.</a:t>
            </a:r>
            <a:endParaRPr sz="15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238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Didact Gothic"/>
              <a:buAutoNum type="arabicPeriod"/>
            </a:pPr>
            <a:r>
              <a:rPr b="1" lang="en" sz="16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Europe PubMed Central Reports on Ocean heatwaves</a:t>
            </a:r>
            <a:endParaRPr b="1" sz="15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12 papers open-access </a:t>
            </a:r>
            <a:r>
              <a:rPr lang="en" sz="15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semantic corpus</a:t>
            </a:r>
            <a:endParaRPr sz="15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-47125" y="-33300"/>
            <a:ext cx="4312500" cy="5210100"/>
          </a:xfrm>
          <a:prstGeom prst="rect">
            <a:avLst/>
          </a:prstGeom>
          <a:solidFill>
            <a:srgbClr val="D7F0FF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550" y="616700"/>
            <a:ext cx="23431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50" y="3071075"/>
            <a:ext cx="3021151" cy="1350925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523425" y="697226"/>
            <a:ext cx="8097149" cy="4167175"/>
            <a:chOff x="523425" y="697226"/>
            <a:chExt cx="8097149" cy="4167175"/>
          </a:xfrm>
        </p:grpSpPr>
        <p:pic>
          <p:nvPicPr>
            <p:cNvPr id="75" name="Google Shape;75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3425" y="697226"/>
              <a:ext cx="8097149" cy="416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35925" y="3303000"/>
              <a:ext cx="1074550" cy="6044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/>
        </p:nvSpPr>
        <p:spPr>
          <a:xfrm>
            <a:off x="2516850" y="67225"/>
            <a:ext cx="4470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" sz="23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   B A C K E N D</a:t>
            </a:r>
            <a:endParaRPr sz="2300">
              <a:solidFill>
                <a:srgbClr val="4343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5450125" y="1550225"/>
            <a:ext cx="2793900" cy="22887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C5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EAFF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07575" y="1550225"/>
            <a:ext cx="2793900" cy="22887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C5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EAFF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579000" y="1427400"/>
            <a:ext cx="2793900" cy="2288700"/>
          </a:xfrm>
          <a:prstGeom prst="rect">
            <a:avLst/>
          </a:prstGeom>
          <a:solidFill>
            <a:srgbClr val="D7F0FF"/>
          </a:solidFill>
          <a:ln cap="flat" cmpd="sng" w="9525">
            <a:solidFill>
              <a:srgbClr val="D7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836375" y="1426025"/>
            <a:ext cx="2793900" cy="2288700"/>
          </a:xfrm>
          <a:prstGeom prst="rect">
            <a:avLst/>
          </a:prstGeom>
          <a:solidFill>
            <a:srgbClr val="D7F0FF"/>
          </a:solidFill>
          <a:ln cap="flat" cmpd="sng" w="9525">
            <a:solidFill>
              <a:srgbClr val="C5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EAFF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117600" y="375550"/>
            <a:ext cx="6794400" cy="3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 R O T O T Y P E   C H A T B O T S</a:t>
            </a:r>
            <a:endParaRPr sz="2100">
              <a:solidFill>
                <a:srgbClr val="4343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Code and Documentation on </a:t>
            </a:r>
            <a:r>
              <a:rPr lang="en" u="sng">
                <a:solidFill>
                  <a:srgbClr val="1C4587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semanticClimate GitHub</a:t>
            </a:r>
            <a:endParaRPr>
              <a:solidFill>
                <a:srgbClr val="1C4587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(Note: These Chatbots are under active development. We're looking for collaborators, testers, and contributors. Join </a:t>
            </a:r>
            <a:r>
              <a:rPr lang="en" sz="1300" u="sng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semanticClimate</a:t>
            </a:r>
            <a:r>
              <a:rPr lang="en" sz="1300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" sz="13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you'd like to participate!)</a:t>
            </a:r>
            <a:endParaRPr sz="13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87" name="Google Shape;87;p16" title="climate_academ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2300" y="1746213"/>
            <a:ext cx="1140275" cy="7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4525" y="1687725"/>
            <a:ext cx="863600" cy="6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4200" y="1746225"/>
            <a:ext cx="1183876" cy="529375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16"/>
          <p:cNvSpPr txBox="1"/>
          <p:nvPr/>
        </p:nvSpPr>
        <p:spPr>
          <a:xfrm>
            <a:off x="754750" y="1861625"/>
            <a:ext cx="2975400" cy="19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Climate Academy Chatbot (CABot)</a:t>
            </a:r>
            <a:endParaRPr>
              <a:solidFill>
                <a:srgbClr val="07376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Based On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Climate Academy Book</a:t>
            </a:r>
            <a:endParaRPr sz="1800">
              <a:solidFill>
                <a:srgbClr val="073763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579000" y="1598263"/>
            <a:ext cx="27939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1C4587"/>
                </a:solidFill>
                <a:latin typeface="Didact Gothic"/>
                <a:ea typeface="Didact Gothic"/>
                <a:cs typeface="Didact Gothic"/>
                <a:sym typeface="Didact Gothic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ClimateInsight Chatbot</a:t>
            </a:r>
            <a:endParaRPr sz="1300">
              <a:solidFill>
                <a:srgbClr val="1C4587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idact Gothic"/>
                <a:ea typeface="Didact Gothic"/>
                <a:cs typeface="Didact Gothic"/>
                <a:sym typeface="Didact Gothic"/>
              </a:rPr>
              <a:t>Based On</a:t>
            </a:r>
            <a:endParaRPr sz="13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IPCC AR6 Report</a:t>
            </a:r>
            <a:r>
              <a:rPr lang="en" sz="1300">
                <a:latin typeface="Didact Gothic"/>
                <a:ea typeface="Didact Gothic"/>
                <a:cs typeface="Didact Gothic"/>
                <a:sym typeface="Didact Gothic"/>
              </a:rPr>
              <a:t> and</a:t>
            </a:r>
            <a:endParaRPr sz="13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en" sz="1300" u="sng">
                <a:solidFill>
                  <a:srgbClr val="073763"/>
                </a:solidFill>
                <a:latin typeface="Didact Gothic"/>
                <a:ea typeface="Didact Gothic"/>
                <a:cs typeface="Didact Gothic"/>
                <a:sym typeface="Didact Gothic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Europe PMC</a:t>
            </a:r>
            <a:r>
              <a:rPr lang="en" sz="1300">
                <a:latin typeface="Didact Gothic"/>
                <a:ea typeface="Didact Gothic"/>
                <a:cs typeface="Didact Gothic"/>
                <a:sym typeface="Didact Gothic"/>
              </a:rPr>
              <a:t> Papers</a:t>
            </a:r>
            <a:endParaRPr sz="13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845450" y="938000"/>
            <a:ext cx="1259100" cy="1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NIPGR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825" y="937991"/>
            <a:ext cx="1015757" cy="77425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3512700" y="1031975"/>
            <a:ext cx="21186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</a:b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Open Knowledge Foundation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986050" y="938100"/>
            <a:ext cx="1443000" cy="1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</a:b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Climate Academy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2699" y="1009250"/>
            <a:ext cx="2118600" cy="631750"/>
          </a:xfrm>
          <a:prstGeom prst="rect">
            <a:avLst/>
          </a:prstGeom>
          <a:solidFill>
            <a:srgbClr val="D0E0E3"/>
          </a:solidFill>
          <a:ln cap="flat" cmpd="sng" w="10700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7" title="climate_academ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9675" y="938009"/>
            <a:ext cx="1015750" cy="7116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7"/>
          <p:cNvCxnSpPr/>
          <p:nvPr/>
        </p:nvCxnSpPr>
        <p:spPr>
          <a:xfrm>
            <a:off x="736600" y="2443850"/>
            <a:ext cx="290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/>
        </p:nvSpPr>
        <p:spPr>
          <a:xfrm>
            <a:off x="4830925" y="3833488"/>
            <a:ext cx="14430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Dr. Renu Kumari</a:t>
            </a:r>
            <a:endParaRPr b="1" sz="12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cxnSp>
        <p:nvCxnSpPr>
          <p:cNvPr id="104" name="Google Shape;104;p17"/>
          <p:cNvCxnSpPr/>
          <p:nvPr/>
        </p:nvCxnSpPr>
        <p:spPr>
          <a:xfrm>
            <a:off x="5395750" y="2423900"/>
            <a:ext cx="290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7"/>
          <p:cNvSpPr txBox="1"/>
          <p:nvPr/>
        </p:nvSpPr>
        <p:spPr>
          <a:xfrm>
            <a:off x="3639400" y="2275400"/>
            <a:ext cx="1756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SPECIAL THANKS TO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150000" y="243950"/>
            <a:ext cx="28440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 H A N K S    T  O</a:t>
            </a:r>
            <a:endParaRPr sz="2200">
              <a:solidFill>
                <a:srgbClr val="4343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341450" y="4517550"/>
            <a:ext cx="6461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Didact Gothic"/>
                <a:ea typeface="Didact Gothic"/>
                <a:cs typeface="Didact Gothic"/>
                <a:sym typeface="Didact Gothic"/>
              </a:rPr>
              <a:t>Alpha Testers: </a:t>
            </a:r>
            <a:endParaRPr b="1" sz="1200">
              <a:solidFill>
                <a:srgbClr val="434343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idact Gothic"/>
                <a:ea typeface="Didact Gothic"/>
                <a:cs typeface="Didact Gothic"/>
                <a:sym typeface="Didact Gothic"/>
              </a:rPr>
              <a:t>Ms. Akalya S. · Ms. Ilakkya S. · Ms. Shreya S. Bhat · Ms. Subhangi Panigrahi · Ms. Vrinda Sharma </a:t>
            </a:r>
            <a:endParaRPr sz="19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08" name="Google Shape;108;p17"/>
          <p:cNvGrpSpPr/>
          <p:nvPr/>
        </p:nvGrpSpPr>
        <p:grpSpPr>
          <a:xfrm>
            <a:off x="967325" y="2661396"/>
            <a:ext cx="7209675" cy="1571150"/>
            <a:chOff x="832700" y="2637013"/>
            <a:chExt cx="7209675" cy="1522138"/>
          </a:xfrm>
        </p:grpSpPr>
        <p:grpSp>
          <p:nvGrpSpPr>
            <p:cNvPr id="109" name="Google Shape;109;p17"/>
            <p:cNvGrpSpPr/>
            <p:nvPr/>
          </p:nvGrpSpPr>
          <p:grpSpPr>
            <a:xfrm>
              <a:off x="6783275" y="2651346"/>
              <a:ext cx="1259100" cy="1496854"/>
              <a:chOff x="890150" y="2759371"/>
              <a:chExt cx="1259100" cy="1496854"/>
            </a:xfrm>
          </p:grpSpPr>
          <p:pic>
            <p:nvPicPr>
              <p:cNvPr id="110" name="Google Shape;110;p17" title="Screenshot 2026-07-21 162209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028450" y="2759371"/>
                <a:ext cx="982500" cy="10362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17"/>
              <p:cNvSpPr txBox="1"/>
              <p:nvPr/>
            </p:nvSpPr>
            <p:spPr>
              <a:xfrm>
                <a:off x="890150" y="3902525"/>
                <a:ext cx="1259100" cy="35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200">
                    <a:solidFill>
                      <a:srgbClr val="434343"/>
                    </a:solidFill>
                    <a:latin typeface="Didact Gothic"/>
                    <a:ea typeface="Didact Gothic"/>
                    <a:cs typeface="Didact Gothic"/>
                    <a:sym typeface="Didact Gothic"/>
                  </a:rPr>
                  <a:t>Ms. </a:t>
                </a:r>
                <a:r>
                  <a:rPr b="1" lang="en" sz="1200">
                    <a:solidFill>
                      <a:srgbClr val="434343"/>
                    </a:solidFill>
                    <a:latin typeface="Didact Gothic"/>
                    <a:ea typeface="Didact Gothic"/>
                    <a:cs typeface="Didact Gothic"/>
                    <a:sym typeface="Didact Gothic"/>
                  </a:rPr>
                  <a:t>Udita Agarwal</a:t>
                </a:r>
                <a:endParaRPr b="1" sz="12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12" name="Google Shape;112;p17"/>
            <p:cNvGrpSpPr/>
            <p:nvPr/>
          </p:nvGrpSpPr>
          <p:grpSpPr>
            <a:xfrm>
              <a:off x="832700" y="2724555"/>
              <a:ext cx="1374000" cy="1423645"/>
              <a:chOff x="2815175" y="2832580"/>
              <a:chExt cx="1374000" cy="1423645"/>
            </a:xfrm>
          </p:grpSpPr>
          <p:pic>
            <p:nvPicPr>
              <p:cNvPr id="113" name="Google Shape;113;p17" title="pmr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024173" y="2832580"/>
                <a:ext cx="982500" cy="96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14" name="Google Shape;114;p17"/>
              <p:cNvSpPr txBox="1"/>
              <p:nvPr/>
            </p:nvSpPr>
            <p:spPr>
              <a:xfrm>
                <a:off x="2815175" y="3902525"/>
                <a:ext cx="1374000" cy="35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434343"/>
                    </a:solidFill>
                    <a:latin typeface="Didact Gothic"/>
                    <a:ea typeface="Didact Gothic"/>
                    <a:cs typeface="Didact Gothic"/>
                    <a:sym typeface="Didact Gothic"/>
                  </a:rPr>
                  <a:t>Dr. Peter Murray-Rust</a:t>
                </a:r>
                <a:endParaRPr b="1" sz="12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15" name="Google Shape;115;p17"/>
            <p:cNvGrpSpPr/>
            <p:nvPr/>
          </p:nvGrpSpPr>
          <p:grpSpPr>
            <a:xfrm>
              <a:off x="2756500" y="2713575"/>
              <a:ext cx="1443000" cy="1445575"/>
              <a:chOff x="6947500" y="2883850"/>
              <a:chExt cx="1443000" cy="1445575"/>
            </a:xfrm>
          </p:grpSpPr>
          <p:pic>
            <p:nvPicPr>
              <p:cNvPr id="116" name="Google Shape;116;p17" title="gitan.jpg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7161100" y="2883850"/>
                <a:ext cx="1015800" cy="10158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17"/>
              <p:cNvSpPr txBox="1"/>
              <p:nvPr/>
            </p:nvSpPr>
            <p:spPr>
              <a:xfrm>
                <a:off x="6947500" y="3975725"/>
                <a:ext cx="1443000" cy="35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434343"/>
                    </a:solidFill>
                    <a:latin typeface="Didact Gothic"/>
                    <a:ea typeface="Didact Gothic"/>
                    <a:cs typeface="Didact Gothic"/>
                    <a:sym typeface="Didact Gothic"/>
                  </a:rPr>
                  <a:t>Dr. Gitanjali Yadav</a:t>
                </a:r>
                <a:endParaRPr b="1" sz="1200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rgbClr val="434343"/>
                  </a:solidFill>
                  <a:latin typeface="Didact Gothic"/>
                  <a:ea typeface="Didact Gothic"/>
                  <a:cs typeface="Didact Gothic"/>
                  <a:sym typeface="Didact Gothic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>
                  <a:solidFill>
                    <a:schemeClr val="dk2"/>
                  </a:solidFill>
                </a:endParaRPr>
              </a:p>
            </p:txBody>
          </p:sp>
        </p:grpSp>
        <p:pic>
          <p:nvPicPr>
            <p:cNvPr id="118" name="Google Shape;118;p1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881750" y="2637013"/>
              <a:ext cx="1103400" cy="110340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